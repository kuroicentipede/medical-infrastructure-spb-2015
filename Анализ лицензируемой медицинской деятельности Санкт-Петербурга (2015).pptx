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442286E-E54D-48A7-8F18-4796F54EF56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" initials="J" lastIdx="1" clrIdx="0">
    <p:extLst>
      <p:ext uri="{19B8F6BF-5375-455C-9EA6-DF929625EA0E}">
        <p15:presenceInfo xmlns:p15="http://schemas.microsoft.com/office/powerpoint/2012/main" userId="Ju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7" d="100"/>
          <a:sy n="97" d="100"/>
        </p:scale>
        <p:origin x="48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6T17:01:27.446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544D10-ADA7-465A-A1FC-56609FB1479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7935B9C-367D-4985-86A9-6AF70CB45BE1}">
      <dgm:prSet phldrT="[Текст]"/>
      <dgm:spPr/>
      <dgm:t>
        <a:bodyPr/>
        <a:lstStyle/>
        <a:p>
          <a:r>
            <a:rPr lang="ru-RU" dirty="0"/>
            <a:t>Подготовка данных</a:t>
          </a:r>
        </a:p>
      </dgm:t>
    </dgm:pt>
    <dgm:pt modelId="{570AB616-C629-471B-A2C1-25BBD85A1201}" type="parTrans" cxnId="{E442CA6A-1F8F-4704-A464-879AD16FFD03}">
      <dgm:prSet/>
      <dgm:spPr/>
      <dgm:t>
        <a:bodyPr/>
        <a:lstStyle/>
        <a:p>
          <a:endParaRPr lang="ru-RU"/>
        </a:p>
      </dgm:t>
    </dgm:pt>
    <dgm:pt modelId="{12122EE8-C1F0-4CC2-9114-DBCBE172C9E1}" type="sibTrans" cxnId="{E442CA6A-1F8F-4704-A464-879AD16FFD03}">
      <dgm:prSet/>
      <dgm:spPr/>
      <dgm:t>
        <a:bodyPr/>
        <a:lstStyle/>
        <a:p>
          <a:endParaRPr lang="ru-RU"/>
        </a:p>
      </dgm:t>
    </dgm:pt>
    <dgm:pt modelId="{E0A04ED2-BF72-4EA3-BFCD-9B1AECED332F}">
      <dgm:prSet phldrT="[Текст]"/>
      <dgm:spPr/>
      <dgm:t>
        <a:bodyPr/>
        <a:lstStyle/>
        <a:p>
          <a:r>
            <a:rPr lang="ru-RU" dirty="0"/>
            <a:t>Проектирование БД</a:t>
          </a:r>
        </a:p>
      </dgm:t>
    </dgm:pt>
    <dgm:pt modelId="{65251210-73FB-4083-A335-06206DCBF089}" type="parTrans" cxnId="{558C0FE3-83B3-4FDD-9E42-52488FA15289}">
      <dgm:prSet/>
      <dgm:spPr/>
      <dgm:t>
        <a:bodyPr/>
        <a:lstStyle/>
        <a:p>
          <a:endParaRPr lang="ru-RU"/>
        </a:p>
      </dgm:t>
    </dgm:pt>
    <dgm:pt modelId="{E3B849DD-ACC1-4683-8532-EBC19854F199}" type="sibTrans" cxnId="{558C0FE3-83B3-4FDD-9E42-52488FA15289}">
      <dgm:prSet/>
      <dgm:spPr/>
      <dgm:t>
        <a:bodyPr/>
        <a:lstStyle/>
        <a:p>
          <a:endParaRPr lang="ru-RU"/>
        </a:p>
      </dgm:t>
    </dgm:pt>
    <dgm:pt modelId="{6327E05C-BD09-4839-8FB1-D829910BD771}">
      <dgm:prSet phldrT="[Текст]"/>
      <dgm:spPr/>
      <dgm:t>
        <a:bodyPr/>
        <a:lstStyle/>
        <a:p>
          <a:r>
            <a:rPr lang="ru-RU" dirty="0"/>
            <a:t>Формирование выводов</a:t>
          </a:r>
        </a:p>
      </dgm:t>
    </dgm:pt>
    <dgm:pt modelId="{89B00E57-2660-407D-B204-7E72222437A7}" type="parTrans" cxnId="{C0D29DC8-A8FF-40C0-9B98-58B39629B5E9}">
      <dgm:prSet/>
      <dgm:spPr/>
      <dgm:t>
        <a:bodyPr/>
        <a:lstStyle/>
        <a:p>
          <a:endParaRPr lang="ru-RU"/>
        </a:p>
      </dgm:t>
    </dgm:pt>
    <dgm:pt modelId="{5088F5E2-BC36-44A9-A465-B0B3E65D8C84}" type="sibTrans" cxnId="{C0D29DC8-A8FF-40C0-9B98-58B39629B5E9}">
      <dgm:prSet/>
      <dgm:spPr/>
      <dgm:t>
        <a:bodyPr/>
        <a:lstStyle/>
        <a:p>
          <a:endParaRPr lang="ru-RU"/>
        </a:p>
      </dgm:t>
    </dgm:pt>
    <dgm:pt modelId="{D6FB69DB-592F-4C00-B9C7-4195DDCB3380}">
      <dgm:prSet/>
      <dgm:spPr/>
      <dgm:t>
        <a:bodyPr/>
        <a:lstStyle/>
        <a:p>
          <a:r>
            <a:rPr lang="ru-RU" dirty="0"/>
            <a:t>Визуализация</a:t>
          </a:r>
        </a:p>
      </dgm:t>
    </dgm:pt>
    <dgm:pt modelId="{09A95C82-58BB-43AD-BF20-1AC5DE00A5C3}" type="parTrans" cxnId="{C2866738-8015-4323-9BAC-F606D09AAE20}">
      <dgm:prSet/>
      <dgm:spPr/>
      <dgm:t>
        <a:bodyPr/>
        <a:lstStyle/>
        <a:p>
          <a:endParaRPr lang="ru-RU"/>
        </a:p>
      </dgm:t>
    </dgm:pt>
    <dgm:pt modelId="{17425EC3-9507-4828-86C1-F93B1BE9C517}" type="sibTrans" cxnId="{C2866738-8015-4323-9BAC-F606D09AAE20}">
      <dgm:prSet/>
      <dgm:spPr/>
      <dgm:t>
        <a:bodyPr/>
        <a:lstStyle/>
        <a:p>
          <a:endParaRPr lang="ru-RU"/>
        </a:p>
      </dgm:t>
    </dgm:pt>
    <dgm:pt modelId="{3A75A651-95CB-4FFF-8DC9-1A2429044679}">
      <dgm:prSet/>
      <dgm:spPr/>
      <dgm:t>
        <a:bodyPr/>
        <a:lstStyle/>
        <a:p>
          <a:r>
            <a:rPr lang="en-US" dirty="0"/>
            <a:t>SQL</a:t>
          </a:r>
          <a:r>
            <a:rPr lang="ru-RU" dirty="0"/>
            <a:t>-анализ</a:t>
          </a:r>
        </a:p>
      </dgm:t>
    </dgm:pt>
    <dgm:pt modelId="{56FE6FA3-195A-4B1C-91FB-4C8B7EB21701}" type="parTrans" cxnId="{5B178339-AE33-479C-85D1-86CB53D8FDD6}">
      <dgm:prSet/>
      <dgm:spPr/>
      <dgm:t>
        <a:bodyPr/>
        <a:lstStyle/>
        <a:p>
          <a:endParaRPr lang="ru-RU"/>
        </a:p>
      </dgm:t>
    </dgm:pt>
    <dgm:pt modelId="{CC8DDAE7-7038-48AB-A9AA-F1851C2C085D}" type="sibTrans" cxnId="{5B178339-AE33-479C-85D1-86CB53D8FDD6}">
      <dgm:prSet/>
      <dgm:spPr/>
      <dgm:t>
        <a:bodyPr/>
        <a:lstStyle/>
        <a:p>
          <a:endParaRPr lang="ru-RU"/>
        </a:p>
      </dgm:t>
    </dgm:pt>
    <dgm:pt modelId="{04859F22-2ADA-451D-B4A5-F58FBD2088D3}" type="pres">
      <dgm:prSet presAssocID="{14544D10-ADA7-465A-A1FC-56609FB14797}" presName="linear" presStyleCnt="0">
        <dgm:presLayoutVars>
          <dgm:dir/>
          <dgm:animLvl val="lvl"/>
          <dgm:resizeHandles val="exact"/>
        </dgm:presLayoutVars>
      </dgm:prSet>
      <dgm:spPr/>
    </dgm:pt>
    <dgm:pt modelId="{AEE9F556-8197-41BB-95B9-8465F1266112}" type="pres">
      <dgm:prSet presAssocID="{17935B9C-367D-4985-86A9-6AF70CB45BE1}" presName="parentLin" presStyleCnt="0"/>
      <dgm:spPr/>
    </dgm:pt>
    <dgm:pt modelId="{5F68A388-054E-4CDE-8E4E-1FEE418E1A35}" type="pres">
      <dgm:prSet presAssocID="{17935B9C-367D-4985-86A9-6AF70CB45BE1}" presName="parentLeftMargin" presStyleLbl="node1" presStyleIdx="0" presStyleCnt="5"/>
      <dgm:spPr/>
    </dgm:pt>
    <dgm:pt modelId="{3299135A-B416-4D85-AB82-EDE9566EE47F}" type="pres">
      <dgm:prSet presAssocID="{17935B9C-367D-4985-86A9-6AF70CB45BE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049CDA3-19BE-43A5-8AF0-8F8BAAE3A7E5}" type="pres">
      <dgm:prSet presAssocID="{17935B9C-367D-4985-86A9-6AF70CB45BE1}" presName="negativeSpace" presStyleCnt="0"/>
      <dgm:spPr/>
    </dgm:pt>
    <dgm:pt modelId="{F62BE7F8-2E51-4D35-9123-9A0C36B4394E}" type="pres">
      <dgm:prSet presAssocID="{17935B9C-367D-4985-86A9-6AF70CB45BE1}" presName="childText" presStyleLbl="conFgAcc1" presStyleIdx="0" presStyleCnt="5">
        <dgm:presLayoutVars>
          <dgm:bulletEnabled val="1"/>
        </dgm:presLayoutVars>
      </dgm:prSet>
      <dgm:spPr/>
    </dgm:pt>
    <dgm:pt modelId="{2545D588-7FD4-4F9B-A1E2-3D808A364AFB}" type="pres">
      <dgm:prSet presAssocID="{12122EE8-C1F0-4CC2-9114-DBCBE172C9E1}" presName="spaceBetweenRectangles" presStyleCnt="0"/>
      <dgm:spPr/>
    </dgm:pt>
    <dgm:pt modelId="{5414777E-28CD-4701-B1D0-C29994266289}" type="pres">
      <dgm:prSet presAssocID="{E0A04ED2-BF72-4EA3-BFCD-9B1AECED332F}" presName="parentLin" presStyleCnt="0"/>
      <dgm:spPr/>
    </dgm:pt>
    <dgm:pt modelId="{1158A8D0-2034-4F4B-9FB2-062782DCFBCE}" type="pres">
      <dgm:prSet presAssocID="{E0A04ED2-BF72-4EA3-BFCD-9B1AECED332F}" presName="parentLeftMargin" presStyleLbl="node1" presStyleIdx="0" presStyleCnt="5"/>
      <dgm:spPr/>
    </dgm:pt>
    <dgm:pt modelId="{E9FA93A4-D93F-4AFF-8E74-1E185234273C}" type="pres">
      <dgm:prSet presAssocID="{E0A04ED2-BF72-4EA3-BFCD-9B1AECED332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17FD9E8-C6F0-45E4-87B5-654D16D6FF3D}" type="pres">
      <dgm:prSet presAssocID="{E0A04ED2-BF72-4EA3-BFCD-9B1AECED332F}" presName="negativeSpace" presStyleCnt="0"/>
      <dgm:spPr/>
    </dgm:pt>
    <dgm:pt modelId="{1DF99275-BFFD-4D18-9561-80379A032C94}" type="pres">
      <dgm:prSet presAssocID="{E0A04ED2-BF72-4EA3-BFCD-9B1AECED332F}" presName="childText" presStyleLbl="conFgAcc1" presStyleIdx="1" presStyleCnt="5">
        <dgm:presLayoutVars>
          <dgm:bulletEnabled val="1"/>
        </dgm:presLayoutVars>
      </dgm:prSet>
      <dgm:spPr/>
    </dgm:pt>
    <dgm:pt modelId="{AC972B28-CBC8-4B26-A2C1-745D7B841150}" type="pres">
      <dgm:prSet presAssocID="{E3B849DD-ACC1-4683-8532-EBC19854F199}" presName="spaceBetweenRectangles" presStyleCnt="0"/>
      <dgm:spPr/>
    </dgm:pt>
    <dgm:pt modelId="{2273F1AD-958C-4335-9E0C-87665E2B9298}" type="pres">
      <dgm:prSet presAssocID="{3A75A651-95CB-4FFF-8DC9-1A2429044679}" presName="parentLin" presStyleCnt="0"/>
      <dgm:spPr/>
    </dgm:pt>
    <dgm:pt modelId="{741588E8-FD50-477E-9598-19628D6523AA}" type="pres">
      <dgm:prSet presAssocID="{3A75A651-95CB-4FFF-8DC9-1A2429044679}" presName="parentLeftMargin" presStyleLbl="node1" presStyleIdx="1" presStyleCnt="5"/>
      <dgm:spPr/>
    </dgm:pt>
    <dgm:pt modelId="{5EC07A08-169C-499C-A972-E039F19ABE59}" type="pres">
      <dgm:prSet presAssocID="{3A75A651-95CB-4FFF-8DC9-1A242904467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CE1404A-B8C5-4136-BE5C-A37E81950362}" type="pres">
      <dgm:prSet presAssocID="{3A75A651-95CB-4FFF-8DC9-1A2429044679}" presName="negativeSpace" presStyleCnt="0"/>
      <dgm:spPr/>
    </dgm:pt>
    <dgm:pt modelId="{911C14D1-7824-4E9D-A31D-2ECD68866CB4}" type="pres">
      <dgm:prSet presAssocID="{3A75A651-95CB-4FFF-8DC9-1A2429044679}" presName="childText" presStyleLbl="conFgAcc1" presStyleIdx="2" presStyleCnt="5">
        <dgm:presLayoutVars>
          <dgm:bulletEnabled val="1"/>
        </dgm:presLayoutVars>
      </dgm:prSet>
      <dgm:spPr/>
    </dgm:pt>
    <dgm:pt modelId="{7E69DC6C-F0A1-4A5F-9470-5087D22CDF2A}" type="pres">
      <dgm:prSet presAssocID="{CC8DDAE7-7038-48AB-A9AA-F1851C2C085D}" presName="spaceBetweenRectangles" presStyleCnt="0"/>
      <dgm:spPr/>
    </dgm:pt>
    <dgm:pt modelId="{25F7729E-B079-4F94-A381-5E67390A1368}" type="pres">
      <dgm:prSet presAssocID="{D6FB69DB-592F-4C00-B9C7-4195DDCB3380}" presName="parentLin" presStyleCnt="0"/>
      <dgm:spPr/>
    </dgm:pt>
    <dgm:pt modelId="{343C329A-F64D-455D-ADFD-7BC000775646}" type="pres">
      <dgm:prSet presAssocID="{D6FB69DB-592F-4C00-B9C7-4195DDCB3380}" presName="parentLeftMargin" presStyleLbl="node1" presStyleIdx="2" presStyleCnt="5"/>
      <dgm:spPr/>
    </dgm:pt>
    <dgm:pt modelId="{2A0046FA-D95D-4777-9FEF-077F06AF1B9E}" type="pres">
      <dgm:prSet presAssocID="{D6FB69DB-592F-4C00-B9C7-4195DDCB338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E2286DA-5851-4519-97ED-DF124858D075}" type="pres">
      <dgm:prSet presAssocID="{D6FB69DB-592F-4C00-B9C7-4195DDCB3380}" presName="negativeSpace" presStyleCnt="0"/>
      <dgm:spPr/>
    </dgm:pt>
    <dgm:pt modelId="{F254E230-B3DE-4B61-8DD0-974E6A223A9D}" type="pres">
      <dgm:prSet presAssocID="{D6FB69DB-592F-4C00-B9C7-4195DDCB3380}" presName="childText" presStyleLbl="conFgAcc1" presStyleIdx="3" presStyleCnt="5">
        <dgm:presLayoutVars>
          <dgm:bulletEnabled val="1"/>
        </dgm:presLayoutVars>
      </dgm:prSet>
      <dgm:spPr/>
    </dgm:pt>
    <dgm:pt modelId="{F72BD717-B2A5-4577-93DA-D359E381B4FE}" type="pres">
      <dgm:prSet presAssocID="{17425EC3-9507-4828-86C1-F93B1BE9C517}" presName="spaceBetweenRectangles" presStyleCnt="0"/>
      <dgm:spPr/>
    </dgm:pt>
    <dgm:pt modelId="{6E411A95-3112-4BC9-ADAE-0EBE2D75C819}" type="pres">
      <dgm:prSet presAssocID="{6327E05C-BD09-4839-8FB1-D829910BD771}" presName="parentLin" presStyleCnt="0"/>
      <dgm:spPr/>
    </dgm:pt>
    <dgm:pt modelId="{AB2C85FC-A95C-4B63-B971-67E84ABEC315}" type="pres">
      <dgm:prSet presAssocID="{6327E05C-BD09-4839-8FB1-D829910BD771}" presName="parentLeftMargin" presStyleLbl="node1" presStyleIdx="3" presStyleCnt="5"/>
      <dgm:spPr/>
    </dgm:pt>
    <dgm:pt modelId="{70C956BC-58D3-4D84-B492-897686765E62}" type="pres">
      <dgm:prSet presAssocID="{6327E05C-BD09-4839-8FB1-D829910BD771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920D02C-9240-4452-A9E5-289362CFA698}" type="pres">
      <dgm:prSet presAssocID="{6327E05C-BD09-4839-8FB1-D829910BD771}" presName="negativeSpace" presStyleCnt="0"/>
      <dgm:spPr/>
    </dgm:pt>
    <dgm:pt modelId="{19FA3748-3B4A-4375-815E-1B4D6C7A8DBE}" type="pres">
      <dgm:prSet presAssocID="{6327E05C-BD09-4839-8FB1-D829910BD771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B08DE81E-1F5A-4080-88BB-73B59AD17218}" type="presOf" srcId="{D6FB69DB-592F-4C00-B9C7-4195DDCB3380}" destId="{343C329A-F64D-455D-ADFD-7BC000775646}" srcOrd="0" destOrd="0" presId="urn:microsoft.com/office/officeart/2005/8/layout/list1"/>
    <dgm:cxn modelId="{0F485F34-E614-4897-AAA8-F55BE20E4202}" type="presOf" srcId="{17935B9C-367D-4985-86A9-6AF70CB45BE1}" destId="{3299135A-B416-4D85-AB82-EDE9566EE47F}" srcOrd="1" destOrd="0" presId="urn:microsoft.com/office/officeart/2005/8/layout/list1"/>
    <dgm:cxn modelId="{C2866738-8015-4323-9BAC-F606D09AAE20}" srcId="{14544D10-ADA7-465A-A1FC-56609FB14797}" destId="{D6FB69DB-592F-4C00-B9C7-4195DDCB3380}" srcOrd="3" destOrd="0" parTransId="{09A95C82-58BB-43AD-BF20-1AC5DE00A5C3}" sibTransId="{17425EC3-9507-4828-86C1-F93B1BE9C517}"/>
    <dgm:cxn modelId="{5B178339-AE33-479C-85D1-86CB53D8FDD6}" srcId="{14544D10-ADA7-465A-A1FC-56609FB14797}" destId="{3A75A651-95CB-4FFF-8DC9-1A2429044679}" srcOrd="2" destOrd="0" parTransId="{56FE6FA3-195A-4B1C-91FB-4C8B7EB21701}" sibTransId="{CC8DDAE7-7038-48AB-A9AA-F1851C2C085D}"/>
    <dgm:cxn modelId="{D590A43A-EE30-47BB-BD29-12ABFE5E29DD}" type="presOf" srcId="{3A75A651-95CB-4FFF-8DC9-1A2429044679}" destId="{741588E8-FD50-477E-9598-19628D6523AA}" srcOrd="0" destOrd="0" presId="urn:microsoft.com/office/officeart/2005/8/layout/list1"/>
    <dgm:cxn modelId="{D0EC0261-0C5F-40A5-97C8-A53317C8D3FD}" type="presOf" srcId="{17935B9C-367D-4985-86A9-6AF70CB45BE1}" destId="{5F68A388-054E-4CDE-8E4E-1FEE418E1A35}" srcOrd="0" destOrd="0" presId="urn:microsoft.com/office/officeart/2005/8/layout/list1"/>
    <dgm:cxn modelId="{E442CA6A-1F8F-4704-A464-879AD16FFD03}" srcId="{14544D10-ADA7-465A-A1FC-56609FB14797}" destId="{17935B9C-367D-4985-86A9-6AF70CB45BE1}" srcOrd="0" destOrd="0" parTransId="{570AB616-C629-471B-A2C1-25BBD85A1201}" sibTransId="{12122EE8-C1F0-4CC2-9114-DBCBE172C9E1}"/>
    <dgm:cxn modelId="{244F466D-565A-4EC4-A8F6-5E8B350A6DD4}" type="presOf" srcId="{14544D10-ADA7-465A-A1FC-56609FB14797}" destId="{04859F22-2ADA-451D-B4A5-F58FBD2088D3}" srcOrd="0" destOrd="0" presId="urn:microsoft.com/office/officeart/2005/8/layout/list1"/>
    <dgm:cxn modelId="{CFF12B8D-43E9-4D2E-8F88-69A838AC0D9C}" type="presOf" srcId="{D6FB69DB-592F-4C00-B9C7-4195DDCB3380}" destId="{2A0046FA-D95D-4777-9FEF-077F06AF1B9E}" srcOrd="1" destOrd="0" presId="urn:microsoft.com/office/officeart/2005/8/layout/list1"/>
    <dgm:cxn modelId="{28E3079A-FD43-4608-B64E-27B04D4FBC36}" type="presOf" srcId="{6327E05C-BD09-4839-8FB1-D829910BD771}" destId="{AB2C85FC-A95C-4B63-B971-67E84ABEC315}" srcOrd="0" destOrd="0" presId="urn:microsoft.com/office/officeart/2005/8/layout/list1"/>
    <dgm:cxn modelId="{4FBC97C0-DF29-4867-9AF7-DA0513CC1C61}" type="presOf" srcId="{3A75A651-95CB-4FFF-8DC9-1A2429044679}" destId="{5EC07A08-169C-499C-A972-E039F19ABE59}" srcOrd="1" destOrd="0" presId="urn:microsoft.com/office/officeart/2005/8/layout/list1"/>
    <dgm:cxn modelId="{C0D29DC8-A8FF-40C0-9B98-58B39629B5E9}" srcId="{14544D10-ADA7-465A-A1FC-56609FB14797}" destId="{6327E05C-BD09-4839-8FB1-D829910BD771}" srcOrd="4" destOrd="0" parTransId="{89B00E57-2660-407D-B204-7E72222437A7}" sibTransId="{5088F5E2-BC36-44A9-A465-B0B3E65D8C84}"/>
    <dgm:cxn modelId="{2ACE80D6-B995-4818-BEA3-913701F6DE57}" type="presOf" srcId="{6327E05C-BD09-4839-8FB1-D829910BD771}" destId="{70C956BC-58D3-4D84-B492-897686765E62}" srcOrd="1" destOrd="0" presId="urn:microsoft.com/office/officeart/2005/8/layout/list1"/>
    <dgm:cxn modelId="{AE0333DC-B63A-44EE-AF45-5487A84A9F4E}" type="presOf" srcId="{E0A04ED2-BF72-4EA3-BFCD-9B1AECED332F}" destId="{1158A8D0-2034-4F4B-9FB2-062782DCFBCE}" srcOrd="0" destOrd="0" presId="urn:microsoft.com/office/officeart/2005/8/layout/list1"/>
    <dgm:cxn modelId="{558C0FE3-83B3-4FDD-9E42-52488FA15289}" srcId="{14544D10-ADA7-465A-A1FC-56609FB14797}" destId="{E0A04ED2-BF72-4EA3-BFCD-9B1AECED332F}" srcOrd="1" destOrd="0" parTransId="{65251210-73FB-4083-A335-06206DCBF089}" sibTransId="{E3B849DD-ACC1-4683-8532-EBC19854F199}"/>
    <dgm:cxn modelId="{1CC779F7-9214-4B96-B4BB-FDA5B0F85A4A}" type="presOf" srcId="{E0A04ED2-BF72-4EA3-BFCD-9B1AECED332F}" destId="{E9FA93A4-D93F-4AFF-8E74-1E185234273C}" srcOrd="1" destOrd="0" presId="urn:microsoft.com/office/officeart/2005/8/layout/list1"/>
    <dgm:cxn modelId="{B6BCA76F-67DA-4B96-AA1F-01A20957D02C}" type="presParOf" srcId="{04859F22-2ADA-451D-B4A5-F58FBD2088D3}" destId="{AEE9F556-8197-41BB-95B9-8465F1266112}" srcOrd="0" destOrd="0" presId="urn:microsoft.com/office/officeart/2005/8/layout/list1"/>
    <dgm:cxn modelId="{F49C32F5-23E7-42D0-A234-9A54C2ECBD2C}" type="presParOf" srcId="{AEE9F556-8197-41BB-95B9-8465F1266112}" destId="{5F68A388-054E-4CDE-8E4E-1FEE418E1A35}" srcOrd="0" destOrd="0" presId="urn:microsoft.com/office/officeart/2005/8/layout/list1"/>
    <dgm:cxn modelId="{36435222-B027-4D78-A56E-488B2FB28FE7}" type="presParOf" srcId="{AEE9F556-8197-41BB-95B9-8465F1266112}" destId="{3299135A-B416-4D85-AB82-EDE9566EE47F}" srcOrd="1" destOrd="0" presId="urn:microsoft.com/office/officeart/2005/8/layout/list1"/>
    <dgm:cxn modelId="{B91F2EC2-EA50-473D-923D-87B3BC6BC5A5}" type="presParOf" srcId="{04859F22-2ADA-451D-B4A5-F58FBD2088D3}" destId="{8049CDA3-19BE-43A5-8AF0-8F8BAAE3A7E5}" srcOrd="1" destOrd="0" presId="urn:microsoft.com/office/officeart/2005/8/layout/list1"/>
    <dgm:cxn modelId="{9BDFD615-349C-4F30-81A4-D8291C444C27}" type="presParOf" srcId="{04859F22-2ADA-451D-B4A5-F58FBD2088D3}" destId="{F62BE7F8-2E51-4D35-9123-9A0C36B4394E}" srcOrd="2" destOrd="0" presId="urn:microsoft.com/office/officeart/2005/8/layout/list1"/>
    <dgm:cxn modelId="{A6E90806-81A7-41BC-83F6-1DD5D208D127}" type="presParOf" srcId="{04859F22-2ADA-451D-B4A5-F58FBD2088D3}" destId="{2545D588-7FD4-4F9B-A1E2-3D808A364AFB}" srcOrd="3" destOrd="0" presId="urn:microsoft.com/office/officeart/2005/8/layout/list1"/>
    <dgm:cxn modelId="{C52FF9D2-C3AE-4BF2-9EF5-7DDDFB5B3080}" type="presParOf" srcId="{04859F22-2ADA-451D-B4A5-F58FBD2088D3}" destId="{5414777E-28CD-4701-B1D0-C29994266289}" srcOrd="4" destOrd="0" presId="urn:microsoft.com/office/officeart/2005/8/layout/list1"/>
    <dgm:cxn modelId="{C0E1D0FC-2BB0-41F3-B140-EFCDC5A4E3B1}" type="presParOf" srcId="{5414777E-28CD-4701-B1D0-C29994266289}" destId="{1158A8D0-2034-4F4B-9FB2-062782DCFBCE}" srcOrd="0" destOrd="0" presId="urn:microsoft.com/office/officeart/2005/8/layout/list1"/>
    <dgm:cxn modelId="{17149B89-C783-4F1B-8990-CF7CBB02014B}" type="presParOf" srcId="{5414777E-28CD-4701-B1D0-C29994266289}" destId="{E9FA93A4-D93F-4AFF-8E74-1E185234273C}" srcOrd="1" destOrd="0" presId="urn:microsoft.com/office/officeart/2005/8/layout/list1"/>
    <dgm:cxn modelId="{ABBBDA8D-8CF0-4891-95F1-94690718E8A5}" type="presParOf" srcId="{04859F22-2ADA-451D-B4A5-F58FBD2088D3}" destId="{C17FD9E8-C6F0-45E4-87B5-654D16D6FF3D}" srcOrd="5" destOrd="0" presId="urn:microsoft.com/office/officeart/2005/8/layout/list1"/>
    <dgm:cxn modelId="{E3B5B2C4-D22B-4873-837E-26F11810050E}" type="presParOf" srcId="{04859F22-2ADA-451D-B4A5-F58FBD2088D3}" destId="{1DF99275-BFFD-4D18-9561-80379A032C94}" srcOrd="6" destOrd="0" presId="urn:microsoft.com/office/officeart/2005/8/layout/list1"/>
    <dgm:cxn modelId="{BA2F9635-F18B-479E-8C52-1905A036BAE8}" type="presParOf" srcId="{04859F22-2ADA-451D-B4A5-F58FBD2088D3}" destId="{AC972B28-CBC8-4B26-A2C1-745D7B841150}" srcOrd="7" destOrd="0" presId="urn:microsoft.com/office/officeart/2005/8/layout/list1"/>
    <dgm:cxn modelId="{61DF9B1D-D963-4D62-942F-D1A2FAAB9F20}" type="presParOf" srcId="{04859F22-2ADA-451D-B4A5-F58FBD2088D3}" destId="{2273F1AD-958C-4335-9E0C-87665E2B9298}" srcOrd="8" destOrd="0" presId="urn:microsoft.com/office/officeart/2005/8/layout/list1"/>
    <dgm:cxn modelId="{97275DD0-ADFF-4A71-B162-C8F65E8C33B2}" type="presParOf" srcId="{2273F1AD-958C-4335-9E0C-87665E2B9298}" destId="{741588E8-FD50-477E-9598-19628D6523AA}" srcOrd="0" destOrd="0" presId="urn:microsoft.com/office/officeart/2005/8/layout/list1"/>
    <dgm:cxn modelId="{C89068DB-ADF8-4933-9C30-26F683E86897}" type="presParOf" srcId="{2273F1AD-958C-4335-9E0C-87665E2B9298}" destId="{5EC07A08-169C-499C-A972-E039F19ABE59}" srcOrd="1" destOrd="0" presId="urn:microsoft.com/office/officeart/2005/8/layout/list1"/>
    <dgm:cxn modelId="{1057B7F0-9451-4096-B7D2-A3B2D8AB6560}" type="presParOf" srcId="{04859F22-2ADA-451D-B4A5-F58FBD2088D3}" destId="{3CE1404A-B8C5-4136-BE5C-A37E81950362}" srcOrd="9" destOrd="0" presId="urn:microsoft.com/office/officeart/2005/8/layout/list1"/>
    <dgm:cxn modelId="{733C6BFF-B1E2-4AA2-A3FB-087325344702}" type="presParOf" srcId="{04859F22-2ADA-451D-B4A5-F58FBD2088D3}" destId="{911C14D1-7824-4E9D-A31D-2ECD68866CB4}" srcOrd="10" destOrd="0" presId="urn:microsoft.com/office/officeart/2005/8/layout/list1"/>
    <dgm:cxn modelId="{EABCC02F-F7AA-4CCE-B1F2-17B62C379408}" type="presParOf" srcId="{04859F22-2ADA-451D-B4A5-F58FBD2088D3}" destId="{7E69DC6C-F0A1-4A5F-9470-5087D22CDF2A}" srcOrd="11" destOrd="0" presId="urn:microsoft.com/office/officeart/2005/8/layout/list1"/>
    <dgm:cxn modelId="{0603576E-5D57-445B-A613-452AD197D57C}" type="presParOf" srcId="{04859F22-2ADA-451D-B4A5-F58FBD2088D3}" destId="{25F7729E-B079-4F94-A381-5E67390A1368}" srcOrd="12" destOrd="0" presId="urn:microsoft.com/office/officeart/2005/8/layout/list1"/>
    <dgm:cxn modelId="{9D0F16BC-F2D1-4AE3-8E62-9FC799AC8DC4}" type="presParOf" srcId="{25F7729E-B079-4F94-A381-5E67390A1368}" destId="{343C329A-F64D-455D-ADFD-7BC000775646}" srcOrd="0" destOrd="0" presId="urn:microsoft.com/office/officeart/2005/8/layout/list1"/>
    <dgm:cxn modelId="{0AA7A755-D8D8-44DA-8A73-C69E06288BD8}" type="presParOf" srcId="{25F7729E-B079-4F94-A381-5E67390A1368}" destId="{2A0046FA-D95D-4777-9FEF-077F06AF1B9E}" srcOrd="1" destOrd="0" presId="urn:microsoft.com/office/officeart/2005/8/layout/list1"/>
    <dgm:cxn modelId="{C17281BE-6AFE-4E5D-9253-DE5C054B0719}" type="presParOf" srcId="{04859F22-2ADA-451D-B4A5-F58FBD2088D3}" destId="{8E2286DA-5851-4519-97ED-DF124858D075}" srcOrd="13" destOrd="0" presId="urn:microsoft.com/office/officeart/2005/8/layout/list1"/>
    <dgm:cxn modelId="{DC0C7509-9911-41C5-80C7-7CDEE0471450}" type="presParOf" srcId="{04859F22-2ADA-451D-B4A5-F58FBD2088D3}" destId="{F254E230-B3DE-4B61-8DD0-974E6A223A9D}" srcOrd="14" destOrd="0" presId="urn:microsoft.com/office/officeart/2005/8/layout/list1"/>
    <dgm:cxn modelId="{3EEDB28A-27F1-46EE-9264-57E31AE8683A}" type="presParOf" srcId="{04859F22-2ADA-451D-B4A5-F58FBD2088D3}" destId="{F72BD717-B2A5-4577-93DA-D359E381B4FE}" srcOrd="15" destOrd="0" presId="urn:microsoft.com/office/officeart/2005/8/layout/list1"/>
    <dgm:cxn modelId="{13D9AAD5-1E0C-4A99-A5CB-B3E5724D1F87}" type="presParOf" srcId="{04859F22-2ADA-451D-B4A5-F58FBD2088D3}" destId="{6E411A95-3112-4BC9-ADAE-0EBE2D75C819}" srcOrd="16" destOrd="0" presId="urn:microsoft.com/office/officeart/2005/8/layout/list1"/>
    <dgm:cxn modelId="{2E665D2C-A005-4A1E-90FA-B99FF181B986}" type="presParOf" srcId="{6E411A95-3112-4BC9-ADAE-0EBE2D75C819}" destId="{AB2C85FC-A95C-4B63-B971-67E84ABEC315}" srcOrd="0" destOrd="0" presId="urn:microsoft.com/office/officeart/2005/8/layout/list1"/>
    <dgm:cxn modelId="{D7B1E6CF-E9AF-4172-A29D-CBA28E42663E}" type="presParOf" srcId="{6E411A95-3112-4BC9-ADAE-0EBE2D75C819}" destId="{70C956BC-58D3-4D84-B492-897686765E62}" srcOrd="1" destOrd="0" presId="urn:microsoft.com/office/officeart/2005/8/layout/list1"/>
    <dgm:cxn modelId="{68F10FE8-90A1-4EE1-A31D-D27A57F7ED2E}" type="presParOf" srcId="{04859F22-2ADA-451D-B4A5-F58FBD2088D3}" destId="{F920D02C-9240-4452-A9E5-289362CFA698}" srcOrd="17" destOrd="0" presId="urn:microsoft.com/office/officeart/2005/8/layout/list1"/>
    <dgm:cxn modelId="{D0962190-6B21-469E-9A17-54EBCCFBFB0A}" type="presParOf" srcId="{04859F22-2ADA-451D-B4A5-F58FBD2088D3}" destId="{19FA3748-3B4A-4375-815E-1B4D6C7A8DBE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2BE7F8-2E51-4D35-9123-9A0C36B4394E}">
      <dsp:nvSpPr>
        <dsp:cNvPr id="0" name=""/>
        <dsp:cNvSpPr/>
      </dsp:nvSpPr>
      <dsp:spPr>
        <a:xfrm>
          <a:off x="0" y="308583"/>
          <a:ext cx="5382342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99135A-B416-4D85-AB82-EDE9566EE47F}">
      <dsp:nvSpPr>
        <dsp:cNvPr id="0" name=""/>
        <dsp:cNvSpPr/>
      </dsp:nvSpPr>
      <dsp:spPr>
        <a:xfrm>
          <a:off x="269117" y="87183"/>
          <a:ext cx="376763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408" tIns="0" rIns="14240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Подготовка данных</a:t>
          </a:r>
        </a:p>
      </dsp:txBody>
      <dsp:txXfrm>
        <a:off x="290733" y="108799"/>
        <a:ext cx="3724407" cy="399568"/>
      </dsp:txXfrm>
    </dsp:sp>
    <dsp:sp modelId="{1DF99275-BFFD-4D18-9561-80379A032C94}">
      <dsp:nvSpPr>
        <dsp:cNvPr id="0" name=""/>
        <dsp:cNvSpPr/>
      </dsp:nvSpPr>
      <dsp:spPr>
        <a:xfrm>
          <a:off x="0" y="988983"/>
          <a:ext cx="5382342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FA93A4-D93F-4AFF-8E74-1E185234273C}">
      <dsp:nvSpPr>
        <dsp:cNvPr id="0" name=""/>
        <dsp:cNvSpPr/>
      </dsp:nvSpPr>
      <dsp:spPr>
        <a:xfrm>
          <a:off x="269117" y="767583"/>
          <a:ext cx="376763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408" tIns="0" rIns="14240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Проектирование БД</a:t>
          </a:r>
        </a:p>
      </dsp:txBody>
      <dsp:txXfrm>
        <a:off x="290733" y="789199"/>
        <a:ext cx="3724407" cy="399568"/>
      </dsp:txXfrm>
    </dsp:sp>
    <dsp:sp modelId="{911C14D1-7824-4E9D-A31D-2ECD68866CB4}">
      <dsp:nvSpPr>
        <dsp:cNvPr id="0" name=""/>
        <dsp:cNvSpPr/>
      </dsp:nvSpPr>
      <dsp:spPr>
        <a:xfrm>
          <a:off x="0" y="1669383"/>
          <a:ext cx="5382342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C07A08-169C-499C-A972-E039F19ABE59}">
      <dsp:nvSpPr>
        <dsp:cNvPr id="0" name=""/>
        <dsp:cNvSpPr/>
      </dsp:nvSpPr>
      <dsp:spPr>
        <a:xfrm>
          <a:off x="269117" y="1447983"/>
          <a:ext cx="376763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408" tIns="0" rIns="14240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SQL</a:t>
          </a:r>
          <a:r>
            <a:rPr lang="ru-RU" sz="1500" kern="1200" dirty="0"/>
            <a:t>-анализ</a:t>
          </a:r>
        </a:p>
      </dsp:txBody>
      <dsp:txXfrm>
        <a:off x="290733" y="1469599"/>
        <a:ext cx="3724407" cy="399568"/>
      </dsp:txXfrm>
    </dsp:sp>
    <dsp:sp modelId="{F254E230-B3DE-4B61-8DD0-974E6A223A9D}">
      <dsp:nvSpPr>
        <dsp:cNvPr id="0" name=""/>
        <dsp:cNvSpPr/>
      </dsp:nvSpPr>
      <dsp:spPr>
        <a:xfrm>
          <a:off x="0" y="2349783"/>
          <a:ext cx="5382342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0046FA-D95D-4777-9FEF-077F06AF1B9E}">
      <dsp:nvSpPr>
        <dsp:cNvPr id="0" name=""/>
        <dsp:cNvSpPr/>
      </dsp:nvSpPr>
      <dsp:spPr>
        <a:xfrm>
          <a:off x="269117" y="2128383"/>
          <a:ext cx="376763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408" tIns="0" rIns="14240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Визуализация</a:t>
          </a:r>
        </a:p>
      </dsp:txBody>
      <dsp:txXfrm>
        <a:off x="290733" y="2149999"/>
        <a:ext cx="3724407" cy="399568"/>
      </dsp:txXfrm>
    </dsp:sp>
    <dsp:sp modelId="{19FA3748-3B4A-4375-815E-1B4D6C7A8DBE}">
      <dsp:nvSpPr>
        <dsp:cNvPr id="0" name=""/>
        <dsp:cNvSpPr/>
      </dsp:nvSpPr>
      <dsp:spPr>
        <a:xfrm>
          <a:off x="0" y="3030183"/>
          <a:ext cx="5382342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956BC-58D3-4D84-B492-897686765E62}">
      <dsp:nvSpPr>
        <dsp:cNvPr id="0" name=""/>
        <dsp:cNvSpPr/>
      </dsp:nvSpPr>
      <dsp:spPr>
        <a:xfrm>
          <a:off x="269117" y="2808783"/>
          <a:ext cx="376763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408" tIns="0" rIns="14240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Формирование выводов</a:t>
          </a:r>
        </a:p>
      </dsp:txBody>
      <dsp:txXfrm>
        <a:off x="290733" y="2830399"/>
        <a:ext cx="3724407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113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74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897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382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824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73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72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659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05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249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3233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652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3785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792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407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358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0930A-8A11-4FA7-8929-BC16272258FA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30DEC39-9167-4CE5-B610-4E4DE45FA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27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gov.ru/datasets/c7093721-38ae-4ac9-8fa0-bef985982fb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38DBF-6F2B-40ED-B1BA-195062E7DE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Анализ лицензируемой медицинской деятельности Санкт-Петербурга</a:t>
            </a:r>
            <a:r>
              <a:rPr lang="en-US" b="1" dirty="0"/>
              <a:t> </a:t>
            </a:r>
            <a:r>
              <a:rPr lang="ru-RU" b="1" dirty="0"/>
              <a:t>(2015)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B37516-3D0F-467C-9F01-B328FFAC43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На основе открытых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3890116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26455-F69F-4C6D-A912-FCDC62F6A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100" b="1" dirty="0"/>
              <a:t>Цель</a:t>
            </a:r>
            <a:r>
              <a:rPr lang="ru-RU" b="1" dirty="0"/>
              <a:t>: </a:t>
            </a:r>
            <a:r>
              <a:rPr lang="ru-RU" sz="2200" dirty="0"/>
              <a:t>Проанализировать структуру лицензируемой медицинской деятельности Санкт-Петербурга, определить наиболее распространённые виды деятельности, их сочетания и особенности специализации медицинских организаций по данным реестра лицензий за 2015 год.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51FC38-0F27-44AD-BAED-8D7C9866D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526890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ru-RU" sz="2400" b="1" dirty="0"/>
              <a:t>Этапы работы: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15" name="Схема 14">
            <a:extLst>
              <a:ext uri="{FF2B5EF4-FFF2-40B4-BE49-F238E27FC236}">
                <a16:creationId xmlns:a16="http://schemas.microsoft.com/office/drawing/2014/main" id="{85950FCA-7FCD-4C66-AEC0-71B3D537E8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3669405"/>
              </p:ext>
            </p:extLst>
          </p:nvPr>
        </p:nvGraphicFramePr>
        <p:xfrm>
          <a:off x="3404829" y="3038168"/>
          <a:ext cx="5382342" cy="3495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1063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F37F46-D60D-4404-8B76-60BB0BC8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250484"/>
            <a:ext cx="8911687" cy="1280890"/>
          </a:xfrm>
        </p:spPr>
        <p:txBody>
          <a:bodyPr/>
          <a:lstStyle/>
          <a:p>
            <a:r>
              <a:rPr lang="ru-RU" b="1" dirty="0"/>
              <a:t>Общая структура лицензируемой медицинской деятельности</a:t>
            </a:r>
          </a:p>
        </p:txBody>
      </p:sp>
      <p:pic>
        <p:nvPicPr>
          <p:cNvPr id="4" name="slide2" descr="Топ-10 лицензируемых видов деятельности">
            <a:extLst>
              <a:ext uri="{FF2B5EF4-FFF2-40B4-BE49-F238E27FC236}">
                <a16:creationId xmlns:a16="http://schemas.microsoft.com/office/drawing/2014/main" id="{6DA01FB9-8E00-4745-A504-B9C229594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9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964" y="1531374"/>
            <a:ext cx="8543668" cy="2393185"/>
          </a:xfrm>
          <a:prstGeom prst="rect">
            <a:avLst/>
          </a:prstGeom>
        </p:spPr>
      </p:pic>
      <p:pic>
        <p:nvPicPr>
          <p:cNvPr id="5" name="slide5" descr="Сочетания медицинских направлений, которые наиболее часто лицензируются вместе">
            <a:extLst>
              <a:ext uri="{FF2B5EF4-FFF2-40B4-BE49-F238E27FC236}">
                <a16:creationId xmlns:a16="http://schemas.microsoft.com/office/drawing/2014/main" id="{2331F0A9-2CD2-4F1E-B61E-5BB4D3363A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964" y="4171745"/>
            <a:ext cx="8543668" cy="19392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9D820-D8AA-41C2-9DEE-9EF545F8FA1B}"/>
              </a:ext>
            </a:extLst>
          </p:cNvPr>
          <p:cNvSpPr txBox="1"/>
          <p:nvPr/>
        </p:nvSpPr>
        <p:spPr>
          <a:xfrm>
            <a:off x="9670026" y="1651819"/>
            <a:ext cx="23463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Лидер – сестринское дело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Далее следуют терапия, стоматология (терапевтическая и ортопедическая), физиотерапия, массаж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AE2151-93C7-4E47-908A-101D61A7F5CE}"/>
              </a:ext>
            </a:extLst>
          </p:cNvPr>
          <p:cNvSpPr txBox="1"/>
          <p:nvPr/>
        </p:nvSpPr>
        <p:spPr>
          <a:xfrm>
            <a:off x="9705668" y="4365523"/>
            <a:ext cx="238694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Наиболее часто встречается комбинация сестринского дела со стоматологией, терапией, физиотерапией, массажем</a:t>
            </a:r>
          </a:p>
        </p:txBody>
      </p:sp>
    </p:spTree>
    <p:extLst>
      <p:ext uri="{BB962C8B-B14F-4D97-AF65-F5344CB8AC3E}">
        <p14:creationId xmlns:p14="http://schemas.microsoft.com/office/powerpoint/2010/main" val="118597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98A40-449D-45CC-9A65-12080D7B3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Профиль медицинских организаций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31F98C-39E2-48D5-98CE-A6DCC545B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885" y="1694836"/>
            <a:ext cx="2649307" cy="1421376"/>
          </a:xfrm>
        </p:spPr>
        <p:txBody>
          <a:bodyPr>
            <a:normAutofit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ru-RU" sz="1600" dirty="0"/>
              <a:t>Значительно преобладают многопрофильные медицинские организации</a:t>
            </a:r>
          </a:p>
        </p:txBody>
      </p:sp>
      <p:pic>
        <p:nvPicPr>
          <p:cNvPr id="4" name="slide6" descr="Распредение медицинских организаций по широте лицензируемого профиля">
            <a:extLst>
              <a:ext uri="{FF2B5EF4-FFF2-40B4-BE49-F238E27FC236}">
                <a16:creationId xmlns:a16="http://schemas.microsoft.com/office/drawing/2014/main" id="{373CB45D-4E03-46FC-A494-EFC618236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53" y="1680702"/>
            <a:ext cx="8090503" cy="1057582"/>
          </a:xfrm>
          <a:prstGeom prst="rect">
            <a:avLst/>
          </a:prstGeom>
        </p:spPr>
      </p:pic>
      <p:pic>
        <p:nvPicPr>
          <p:cNvPr id="5" name="slide4" descr="Топ-10 организаций с наиболее широкой специализацией по числу лицензируемых видов медицинской деятельности">
            <a:extLst>
              <a:ext uri="{FF2B5EF4-FFF2-40B4-BE49-F238E27FC236}">
                <a16:creationId xmlns:a16="http://schemas.microsoft.com/office/drawing/2014/main" id="{BC95C8D2-7E37-43E5-80D6-975775491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53" y="2961592"/>
            <a:ext cx="8095753" cy="37341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B7AEB6-EA74-47A8-BDAF-6C8E18830EF9}"/>
              </a:ext>
            </a:extLst>
          </p:cNvPr>
          <p:cNvSpPr txBox="1"/>
          <p:nvPr/>
        </p:nvSpPr>
        <p:spPr>
          <a:xfrm>
            <a:off x="9438968" y="3692013"/>
            <a:ext cx="22663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Организации с наиболее широким профилем – это </a:t>
            </a:r>
            <a:r>
              <a:rPr lang="ru-RU" sz="1400" dirty="0">
                <a:effectLst/>
                <a:ea typeface="Calibri" panose="020F0502020204030204" pitchFamily="34" charset="0"/>
              </a:rPr>
              <a:t>«Городская больница № 40 Курортного района», ООО «АВА-ПЕТЕР» и «Городская клиническая больница № 31».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852125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A94AD-CD6B-47C0-985F-AF68EEBDD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Редкие направления и единичные случаи</a:t>
            </a:r>
          </a:p>
        </p:txBody>
      </p:sp>
      <p:pic>
        <p:nvPicPr>
          <p:cNvPr id="6" name="slide2" descr="Виды медицинской деятельности, представленные единичными случаями">
            <a:extLst>
              <a:ext uri="{FF2B5EF4-FFF2-40B4-BE49-F238E27FC236}">
                <a16:creationId xmlns:a16="http://schemas.microsoft.com/office/drawing/2014/main" id="{6E025F55-2404-490A-86A7-63C06F0806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326"/>
          <a:stretch/>
        </p:blipFill>
        <p:spPr>
          <a:xfrm>
            <a:off x="1553189" y="2007624"/>
            <a:ext cx="4484700" cy="4226266"/>
          </a:xfrm>
          <a:prstGeom prst="rect">
            <a:avLst/>
          </a:prstGeom>
        </p:spPr>
      </p:pic>
      <p:pic>
        <p:nvPicPr>
          <p:cNvPr id="7" name="slide2" descr="Медицинские организации, лицензирующие виды медицинской деятельности, представленные в реестре единичными случаями">
            <a:extLst>
              <a:ext uri="{FF2B5EF4-FFF2-40B4-BE49-F238E27FC236}">
                <a16:creationId xmlns:a16="http://schemas.microsoft.com/office/drawing/2014/main" id="{E38EB26D-E1B7-4ED5-8F53-5977AB742E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584" b="12005"/>
          <a:stretch/>
        </p:blipFill>
        <p:spPr>
          <a:xfrm>
            <a:off x="6448846" y="2007624"/>
            <a:ext cx="5055766" cy="349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650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83A9A-8487-400B-A995-923C3FF9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3DA82A-9395-45D6-993A-9E469C23A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Л</a:t>
            </a: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ицензируемая медицинская деятельность Санкт-Петербурга в 2015 году была представлена широким спектром направлений.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Значительно преобладают многопрофильные медицинские учреждения.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ru-RU" dirty="0"/>
              <a:t>Виды медицинской деятельности в реестре представлены не изолированно: определённые направления регулярно лицензируются совместно.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ru-RU" dirty="0"/>
              <a:t>В реестре присутствует ряд единичных видов деятельности, связанных с отдельными медицинскими организациями.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785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785DFE-6B67-424F-816B-C4F608ECC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Ограничения анализа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66E12E-7B4B-42D8-8BFE-9404AF4C9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ru-RU" dirty="0"/>
              <a:t>Исследование основано на данных реестра лицензий на осуществление медицинской деятельности за 2015 год.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ru-RU" dirty="0"/>
              <a:t>Анализируется наличие лицензий, а не фактический объём оказанных медицинских услуг.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ru-RU" dirty="0"/>
              <a:t>Полученные результаты характеризуют структуру лицензируемой деятельности, но не позволяют оценивать качество медицинской помощи.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ru-RU" dirty="0"/>
              <a:t>В рамках проекта не рассматривались кадровые, финансовые показатели медицинских организаций и показатели здоровья населения.</a:t>
            </a:r>
          </a:p>
        </p:txBody>
      </p:sp>
    </p:spTree>
    <p:extLst>
      <p:ext uri="{BB962C8B-B14F-4D97-AF65-F5344CB8AC3E}">
        <p14:creationId xmlns:p14="http://schemas.microsoft.com/office/powerpoint/2010/main" val="3663834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614790-6701-495F-BA2F-8CA2829E5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B9A10B-0A4A-4613-BDBF-1FAFCB0E9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Реестр лицензий на осуществление медицинской деятельности, предоставленных Комитетом по здравоохранению (2015)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https://data.gov.ru/datasets/c7093721-38ae-4ac9-8fa0-bef985982fb4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7719706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68</TotalTime>
  <Words>265</Words>
  <Application>Microsoft Office PowerPoint</Application>
  <PresentationFormat>Широкоэкранный</PresentationFormat>
  <Paragraphs>30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Легкий дым</vt:lpstr>
      <vt:lpstr>Анализ лицензируемой медицинской деятельности Санкт-Петербурга (2015)</vt:lpstr>
      <vt:lpstr>Цель: Проанализировать структуру лицензируемой медицинской деятельности Санкт-Петербурга, определить наиболее распространённые виды деятельности, их сочетания и особенности специализации медицинских организаций по данным реестра лицензий за 2015 год.</vt:lpstr>
      <vt:lpstr>Общая структура лицензируемой медицинской деятельности</vt:lpstr>
      <vt:lpstr>Профиль медицинских организаций</vt:lpstr>
      <vt:lpstr>Редкие направления и единичные случаи</vt:lpstr>
      <vt:lpstr>Основные выводы</vt:lpstr>
      <vt:lpstr>Ограничения анализа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лицензируемой медицинской деятельности Санкт-Петербурга (2015)</dc:title>
  <dc:creator>Jul</dc:creator>
  <cp:lastModifiedBy>Jul</cp:lastModifiedBy>
  <cp:revision>8</cp:revision>
  <dcterms:created xsi:type="dcterms:W3CDTF">2026-08-26T13:36:59Z</dcterms:created>
  <dcterms:modified xsi:type="dcterms:W3CDTF">2026-08-26T14:45:18Z</dcterms:modified>
</cp:coreProperties>
</file>